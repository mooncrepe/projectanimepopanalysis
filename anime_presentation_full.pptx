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85" r:id="rId3"/>
    <p:sldId id="28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63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8FA-4DCB-9BBF-647FE9EAB3F5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8FA-4DCB-9BBF-647FE9EAB3F5}"/>
              </c:ext>
            </c:extLst>
          </c:dPt>
          <c:dPt>
            <c:idx val="2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8FA-4DCB-9BBF-647FE9EAB3F5}"/>
              </c:ext>
            </c:extLst>
          </c:dPt>
          <c:dPt>
            <c:idx val="3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8FA-4DCB-9BBF-647FE9EAB3F5}"/>
              </c:ext>
            </c:extLst>
          </c:dPt>
          <c:cat>
            <c:strRef>
              <c:f>Sheet1!$A$2:$A$5</c:f>
              <c:strCache>
                <c:ptCount val="4"/>
                <c:pt idx="0">
                  <c:v>Episodes</c:v>
                </c:pt>
                <c:pt idx="1">
                  <c:v>Duration</c:v>
                </c:pt>
                <c:pt idx="2">
                  <c:v>Release Year</c:v>
                </c:pt>
                <c:pt idx="3">
                  <c:v>Voters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6.0999999999999999E-2</c:v>
                </c:pt>
                <c:pt idx="1">
                  <c:v>0.14799999999999999</c:v>
                </c:pt>
                <c:pt idx="2">
                  <c:v>0.28399999999999997</c:v>
                </c:pt>
                <c:pt idx="3">
                  <c:v>0.35499999999999998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8FA-4DCB-9BBF-647FE9EAB3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D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b"/>
        <c:majorGridlines>
          <c:spPr>
            <a:ln w="6350" cap="flat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D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42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BD13B-8B05-3052-746A-2AE3D4CB8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B8233-183D-D892-E99C-C8C38B069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BF159-80FC-9F2B-EC5A-93D52711F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55FDB-D32E-F046-0AF2-AAFAAE23D1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72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6C1D4-2915-E274-DE35-227DABBD6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E08F81-8490-251C-F20F-FF6F8076B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27A9D4-4C01-1692-5C6A-FCBA908AD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BCB88-8519-75C7-3B4B-FE143CA9E8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67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8B0C8-B692-85A0-9302-191956AAB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63B152-B45F-9595-A87D-E87633705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6CB58-5C75-62C2-3046-3247CEA02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D5964-D094-B1AD-91B8-C8523061FE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86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Anime Popularity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00A8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 Analysis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Yiling H. Tan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4592" y="4160520"/>
            <a:ext cx="8979408" cy="987552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4270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210 — Data Management for Data Science  </a:t>
            </a:r>
            <a:r>
              <a:rPr lang="en-US" sz="1150" dirty="0">
                <a:solidFill>
                  <a:srgbClr val="7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Rutgers University  |  Spring 2026  |  Dataset: MyAnimeList (28,825 entries)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4636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github.com/MoonCrepe/ProjectAnimePopAnalysis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64C36-B9AB-EB18-4E42-0D9B1570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EDB855-D276-3A4F-7211-3DD99FC2B58B}"/>
              </a:ext>
            </a:extLst>
          </p:cNvPr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1F7D29-16DE-C178-4595-AEFA87773B95}"/>
              </a:ext>
            </a:extLst>
          </p:cNvPr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EC9188-4CDB-1697-26FD-7B9AAE0E0675}"/>
              </a:ext>
            </a:extLst>
          </p:cNvPr>
          <p:cNvSpPr/>
          <p:nvPr/>
        </p:nvSpPr>
        <p:spPr>
          <a:xfrm>
            <a:off x="1623423" y="213512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Goal/Objective?</a:t>
            </a:r>
            <a:endParaRPr lang="en-US" sz="3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6A17D0F-2A56-DD39-7BB0-B25CCEC1A6FC}"/>
              </a:ext>
            </a:extLst>
          </p:cNvPr>
          <p:cNvSpPr/>
          <p:nvPr/>
        </p:nvSpPr>
        <p:spPr>
          <a:xfrm>
            <a:off x="548640" y="274320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Genre &amp; Studio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Format Type (TV, Movie, OVA...)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Episode Count &amp; Duration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Age Rating (R18 excluded)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Release Year Trend (2000–2024)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Voter Count vs Score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8460F98-87C8-CD6A-0FB4-BD6FB6AFEF03}"/>
              </a:ext>
            </a:extLst>
          </p:cNvPr>
          <p:cNvSpPr/>
          <p:nvPr/>
        </p:nvSpPr>
        <p:spPr>
          <a:xfrm>
            <a:off x="4663440" y="274320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Python + Pandas — load, clean, group</a:t>
            </a:r>
            <a:endParaRPr lang="en-US" sz="1250" dirty="0">
              <a:latin typeface="Aptos Mono" panose="020B0009020202020204" pitchFamily="49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defaultdict — multi-genre analysis</a:t>
            </a:r>
            <a:endParaRPr lang="en-US" sz="1250" dirty="0">
              <a:latin typeface="Aptos Mono" panose="020B0009020202020204" pitchFamily="49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pd.cut() — episode/duration binning</a:t>
            </a:r>
            <a:endParaRPr lang="en-US" sz="1250" dirty="0">
              <a:latin typeface="Aptos Mono" panose="020B0009020202020204" pitchFamily="49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.groupby() — Split-Apply-Combine</a:t>
            </a:r>
            <a:endParaRPr lang="en-US" sz="1250" dirty="0">
              <a:latin typeface="Aptos Mono" panose="020B0009020202020204" pitchFamily="49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.corr() — Pearson correlation modeling</a:t>
            </a:r>
            <a:endParaRPr lang="en-US" sz="1250" dirty="0">
              <a:latin typeface="Aptos Mono" panose="020B0009020202020204" pitchFamily="49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re.search() — regex duration parsing</a:t>
            </a:r>
            <a:endParaRPr lang="en-US" sz="1250" dirty="0">
              <a:latin typeface="Aptos Mono" panose="020B00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153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C0436-2717-150D-F4F4-3723249B1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BE4725-F483-E127-3D41-78F9DEF36DD5}"/>
              </a:ext>
            </a:extLst>
          </p:cNvPr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F4ACBA-26C7-1465-807D-75097784F11F}"/>
              </a:ext>
            </a:extLst>
          </p:cNvPr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A58309-6A0A-8BA2-45FA-09934BF03FE5}"/>
              </a:ext>
            </a:extLst>
          </p:cNvPr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DC89927-7AC8-226E-BE4F-626133E3DE78}"/>
              </a:ext>
            </a:extLst>
          </p:cNvPr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E73486C-122B-B461-6F5A-10BACFB8194B}"/>
              </a:ext>
            </a:extLst>
          </p:cNvPr>
          <p:cNvSpPr/>
          <p:nvPr/>
        </p:nvSpPr>
        <p:spPr>
          <a:xfrm>
            <a:off x="548640" y="274320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Genre &amp; Studio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Format Type (TV, Movie, OVA...)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Episode Count &amp; Duration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Age Rating (R18 excluded)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Release Year Trend (2000–2024)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Voter Count vs Score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6E41D26-E718-49AB-721F-62275F3C469B}"/>
              </a:ext>
            </a:extLst>
          </p:cNvPr>
          <p:cNvSpPr/>
          <p:nvPr/>
        </p:nvSpPr>
        <p:spPr>
          <a:xfrm>
            <a:off x="4663440" y="274320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Python + Pandas — load, clean, group</a:t>
            </a:r>
            <a:endParaRPr lang="en-US" sz="1250" dirty="0">
              <a:latin typeface="Aptos Mono" panose="020B0009020202020204" pitchFamily="49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defaultdict — multi-genre analysis</a:t>
            </a:r>
            <a:endParaRPr lang="en-US" sz="1250" dirty="0">
              <a:latin typeface="Aptos Mono" panose="020B0009020202020204" pitchFamily="49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pd.cut() — episode/duration binning</a:t>
            </a:r>
            <a:endParaRPr lang="en-US" sz="1250" dirty="0">
              <a:latin typeface="Aptos Mono" panose="020B0009020202020204" pitchFamily="49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.groupby() — Split-Apply-Combine</a:t>
            </a:r>
            <a:endParaRPr lang="en-US" sz="1250" dirty="0">
              <a:latin typeface="Aptos Mono" panose="020B0009020202020204" pitchFamily="49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.corr() — Pearson correlation modeling</a:t>
            </a:r>
            <a:endParaRPr lang="en-US" sz="1250" dirty="0">
              <a:latin typeface="Aptos Mono" panose="020B0009020202020204" pitchFamily="49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re.search() — regex duration parsing</a:t>
            </a:r>
            <a:endParaRPr lang="en-US" sz="1250" dirty="0">
              <a:latin typeface="Aptos Mono" panose="020B0009020202020204" pitchFamily="49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6B3D88E-A581-9B25-54B5-923ED242E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3366"/>
            <a:ext cx="9144000" cy="27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194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Methodology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920240" cy="1005840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527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28,825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Anime Entries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115568"/>
            <a:ext cx="192024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23160" y="12527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14,127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23160" y="1719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 (R18-)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115568"/>
            <a:ext cx="19202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0560" y="12527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480560" y="1719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Analyzed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37960" y="1115568"/>
            <a:ext cx="1920240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37960" y="12527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537960" y="1719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Generated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3931920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4323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Analyzed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74320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Genre &amp; Studio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Format Type (TV, Movie, OVA...)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Episode Count &amp; Duration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Age Rating (R18 excluded)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Release Year Trend (2000–2024)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F0502020204030204" pitchFamily="49" charset="0"/>
                <a:ea typeface="Calibri" pitchFamily="34" charset="-122"/>
                <a:cs typeface="Aharoni" panose="020F0502020204030204" pitchFamily="2" charset="-79"/>
              </a:rPr>
              <a:t>Voter Count vs Score</a:t>
            </a:r>
            <a:endParaRPr lang="en-US" sz="1250" dirty="0">
              <a:latin typeface="Aptos Mono" panose="020F0502020204030204" pitchFamily="49" charset="0"/>
              <a:cs typeface="Aharoni" panose="020F0502020204030204" pitchFamily="2" charset="-79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80560" y="2331720"/>
            <a:ext cx="4297680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24323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Techniques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274320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Python + Pandas — load, clean, group</a:t>
            </a:r>
            <a:endParaRPr lang="en-US" sz="1250" dirty="0">
              <a:latin typeface="Aptos Mono" panose="020B0009020202020204" pitchFamily="49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defaultdict — multi-genre analysis</a:t>
            </a:r>
            <a:endParaRPr lang="en-US" sz="1250" dirty="0">
              <a:latin typeface="Aptos Mono" panose="020B0009020202020204" pitchFamily="49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pd.cut() — episode/duration binning</a:t>
            </a:r>
            <a:endParaRPr lang="en-US" sz="1250" dirty="0">
              <a:latin typeface="Aptos Mono" panose="020B0009020202020204" pitchFamily="49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.groupby() — Split-Apply-Combine</a:t>
            </a:r>
            <a:endParaRPr lang="en-US" sz="1250" dirty="0">
              <a:latin typeface="Aptos Mono" panose="020B0009020202020204" pitchFamily="49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.corr() — Pearson correlation modeling</a:t>
            </a:r>
            <a:endParaRPr lang="en-US" sz="1250" dirty="0">
              <a:latin typeface="Aptos Mono" panose="020B0009020202020204" pitchFamily="49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ptos Mono" panose="020B0009020202020204" pitchFamily="49" charset="0"/>
                <a:ea typeface="Calibri" pitchFamily="34" charset="-122"/>
                <a:cs typeface="Calibri" pitchFamily="34" charset="-120"/>
              </a:rPr>
              <a:t>re.search() — regex duration parsing</a:t>
            </a:r>
            <a:endParaRPr lang="en-US" sz="1250" dirty="0">
              <a:latin typeface="Aptos Mono" panose="020B0009020202020204" pitchFamily="49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4873752"/>
            <a:ext cx="8412480" cy="201168"/>
          </a:xfrm>
          <a:prstGeom prst="rect">
            <a:avLst/>
          </a:prstGeom>
          <a:solidFill>
            <a:srgbClr val="00A8A2">
              <a:alpha val="22000"/>
            </a:srgbClr>
          </a:solidFill>
          <a:ln w="12700">
            <a:solidFill>
              <a:srgbClr val="00A8A2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88289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 (Rx - Hentai) removed from main analysis — preserved separately as df_all for Fig 2 comparison (avg score: 4.74 vs 6.52 non-R18)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Distribution — All Anime (R18 Excluded)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6" name="Image 0" descr="/home/claude/fig1_score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832104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 — Most anime score between 5.5 and 7.5. Mean and median are both 6.52, indicating a symmetric distribution.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R18 Content Was Excluded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6" name="Image 0" descr="/home/claude/fig2_r18_vs_nonr1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832104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 — R18 anime average 4.74 vs 6.52 for non-R18. The box plot confirms the distributions are fundamentally different.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Score by Genre (Top 15)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6" name="Image 0" descr="/home/claude/fig3_genre_scor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832104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 — Award Winning, Suspense, and Mystery lead. Green bars average 7.0+. Story-driven tension-heavy genres score highest.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Common Genres by Title Count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6" name="Image 0" descr="/home/claude/fig14_genre_coun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832104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14 — Action and Comedy dominate by count but don't lead in score. Popularity by volume ≠ quality.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Score by Anime Format (Type)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6" name="Image 0" descr="/home/claude/fig4_type_scor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832104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 — TV series score highest at 6.84. ONA (web anime) score lowest at 6.26. Serialized storytelling wins.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Score by Age Rating (R18 Excluded)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6" name="Image 0" descr="/home/claude/fig5_rating_scor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832104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 — R-rated (17+) anime score highest at 6.96. G-rated score lowest at 5.98. Mature themes correlate with better reception.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Score by Episode Count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6" name="Image 0" descr="/home/claude/fig6_episode_scor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832104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 — 100+ and 13–24 episode ranges both average ~6.89. Very short anime (1–12 eps) score lowest at 6.40.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Score by Episode Duration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144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6" name="Image 0" descr="/home/claude/fig7_duration_scor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832104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7 — Standard 15–25 min episodes score highest at 6.89. Very short (&lt;5 min) and very long (35+ min) both score lower.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Trend Over Time (2000–2024)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6" name="Image 0" descr="/home/claude/fig8_score_over_yea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832104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 — Average scores have risen steadily. 2024 anime averaged 7.02 — the highest on record. Output volume also growing.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12 Studios by Average Score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6" name="Image 0" descr="/home/claude/fig9_studio_scor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832104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 — Kyoto Animation leads at 7.45. Gold bars average 7.0+. Studio identity is a meaningful quality signal.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vs Number of Voters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Findings &amp; Methodology</a:t>
            </a:r>
            <a:endParaRPr lang="en-US" sz="900" dirty="0"/>
          </a:p>
        </p:txBody>
      </p:sp>
      <p:pic>
        <p:nvPicPr>
          <p:cNvPr id="6" name="Image 0" descr="/home/claude/fig10_score_vs_vot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832104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10 — Correlation = 0.355. More popular anime tend to score higher but the relationship is moderate, not strong.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vs Episode Count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6" name="Image 0" descr="/home/claude/fig11_score_vs_episod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832104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11 — Correlation = 0.061. Almost no linear relationship. Episode count is NOT a meaningful predictor of score.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vs Episode Duration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6" name="Image 0" descr="/home/claude/fig12_score_vs_dur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832104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12 — Correlation = 0.148. Very weak relationship. Duration alone tells us almost nothing about quality.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Numeric Factors Actually Influence Score?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6" name="Image 0" descr="/home/claude/fig13_correlation_summa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832104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13 — Green = notable influence (≥0.2). Red = weak/no influence. Voters and Year matter; Episodes and Duration do not.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— Categorical Trends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2296" cy="1508760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289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Genre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15453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Suspense (7.08)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0352" y="19110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(7.01) close behind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82296" cy="1508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10712" y="1289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Format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10712" y="15453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TV Series (6.84)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10712" y="19110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storytelling wins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14300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143000"/>
            <a:ext cx="82296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91072" y="1289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Studio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91072" y="15453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Kyoto Animation (7.45)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91072" y="19110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(7.25)  ·  Bones (7.31)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880360"/>
            <a:ext cx="82296" cy="1508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30266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Age Rating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" y="3282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17+ (6.96)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30352" y="36484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themes = higher scores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288036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46120" y="2880360"/>
            <a:ext cx="82296" cy="1508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10712" y="30266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Episode Count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10712" y="3282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100+ or 13–24 (~6.89)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410712" y="36484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1–12 episode anime score lowest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88036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26480" y="2880360"/>
            <a:ext cx="82296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91072" y="30266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Duration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91072" y="3282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15–25 min/ep (6.89)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291072" y="36484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runtime performs best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rated anime: Frieren (9.30)  ·  FMA Brotherhood (9.10)  ·  Steins;Gate (9.07) — all TV format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Actually Influences Popularity?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Numeric Correlations with Score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325880"/>
          <a:ext cx="48463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394960" y="1051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Verdict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394960" y="1325880"/>
            <a:ext cx="3474720" cy="493776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532120" y="13624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+ Studio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32120" y="158191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categorical influence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394960" y="1892808"/>
            <a:ext cx="3474720" cy="493776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532120" y="19293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Rating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32120" y="214884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17+ scores ~1pt above G-rated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394960" y="2459736"/>
            <a:ext cx="3474720" cy="493776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532120" y="24963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Count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32120" y="271576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= 0.355, moderate link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394960" y="3026664"/>
            <a:ext cx="3474720" cy="493776"/>
          </a:xfrm>
          <a:prstGeom prst="rect">
            <a:avLst/>
          </a:prstGeom>
          <a:solidFill>
            <a:srgbClr val="4A3800"/>
          </a:solidFill>
          <a:ln w="12700">
            <a:solidFill>
              <a:srgbClr val="4A3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532120" y="3063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Year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532120" y="328269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= 0.284, slight upward trend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394960" y="3593592"/>
            <a:ext cx="3474720" cy="493776"/>
          </a:xfrm>
          <a:prstGeom prst="rect">
            <a:avLst/>
          </a:prstGeom>
          <a:solidFill>
            <a:srgbClr val="4A1A1A"/>
          </a:solidFill>
          <a:ln w="12700">
            <a:solidFill>
              <a:srgbClr val="4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532120" y="3630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Count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532120" y="384962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= 0.061, barely anything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394960" y="4160520"/>
            <a:ext cx="3474720" cy="493776"/>
          </a:xfrm>
          <a:prstGeom prst="rect">
            <a:avLst/>
          </a:prstGeom>
          <a:solidFill>
            <a:srgbClr val="4A1A1A"/>
          </a:solidFill>
          <a:ln w="12700">
            <a:solidFill>
              <a:srgbClr val="4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532120" y="41970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532120" y="44165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= 0.148, very weak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-101600" y="4645152"/>
            <a:ext cx="9245600" cy="457200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02920" y="469087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Ideal popular anime: TV series  ·  R 17+ rating  ·  Suspense/Mystery genre  ·  Top studio  ·  Released 2020+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A8A2">
              <a:alpha val="12000"/>
            </a:srgbClr>
          </a:solidFill>
          <a:ln w="12700">
            <a:solidFill>
              <a:srgbClr val="00A8A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8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Walkthrough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A8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Things That Didn't Work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64592" y="4297680"/>
            <a:ext cx="8979408" cy="868680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F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anime_popularity_analysis.py  ·  python  ·  ~350 lines  ·  14 charts  ·  1 output text file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Code Walkthrough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1783080"/>
          </a:xfrm>
          <a:prstGeom prst="rect">
            <a:avLst/>
          </a:prstGeom>
          <a:solidFill>
            <a:srgbClr val="09142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241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6245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0078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matplotlib.ticker as mticker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039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defaultdict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852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pandas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matplotlib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913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 err="1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defaultdict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4439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 — Python's built-in regex module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Code Walkthrough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 &amp; Cleaning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2212848"/>
          </a:xfrm>
          <a:prstGeom prst="rect">
            <a:avLst/>
          </a:prstGeom>
          <a:solidFill>
            <a:srgbClr val="09142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241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pd.read_csv("popular_anime.csv")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36245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df.dropna(subset=["score", "rank", "scored_by"])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70078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df.reset_index(drop=True)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039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df["score"] = pd.to_numeric(df["score"], errors="coerce")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df["year"] = pd.to_datetime(df["aired_from"], errors="coerce").dt.year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27157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df["duration_min"] = df["duration_per_ep"].apply(parse_duration)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33467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 err="1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</a:t>
            </a:r>
            <a:r>
              <a:rPr lang="en-US" sz="125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(28,825 → 14,128 rows)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38221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pd.to_numeric with errors='coerce'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17720" y="385719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pd.to_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17720" y="33787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 err="1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parse_duration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Code Walkthrough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R18 Exclusion)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321040" cy="1280160"/>
          </a:xfrm>
          <a:prstGeom prst="rect">
            <a:avLst/>
          </a:prstGeom>
          <a:solidFill>
            <a:srgbClr val="09142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2412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df_all = </a:t>
            </a:r>
            <a:r>
              <a:rPr lang="en-US" sz="1250" dirty="0" err="1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df.copy</a:t>
            </a:r>
            <a:r>
              <a:rPr lang="en-US" sz="125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3898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df[df["rating"] != "Rx - Hentai"].reset_index(drop=True)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print(f"Removed {len(df_all) - len(df)} R18 rows")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 err="1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df_all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92734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</a:t>
            </a:r>
            <a:r>
              <a:rPr lang="en-US" sz="13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en-US" sz="13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adult content operates under completely different audience dynamics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12724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!= operator keeps every row where rating is anything other than Rx - Hentai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Code Walkthrough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2816352"/>
          </a:xfrm>
          <a:prstGeom prst="rect">
            <a:avLst/>
          </a:prstGeom>
          <a:solidFill>
            <a:srgbClr val="09142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2412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genre_scores = defaultdict(list)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35331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_, row in df.iterrows():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68249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genre in row['genres'].split(','):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genre = genre.strip()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3408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genre_scores[genre].append(row['score'])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9992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genre_avg = {g: round(sum(v)/len(v),2)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32841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for g,v in genre_scores.items() if len(v)&gt;=50}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544982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Same exact approach used for studio analysis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Code Walkthrough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Groupby</a:t>
            </a: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&amp; pd.cut() Binning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2816352"/>
          </a:xfrm>
          <a:prstGeom prst="rect">
            <a:avLst/>
          </a:prstGeom>
          <a:solidFill>
            <a:srgbClr val="09142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102412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Split-Apply-Combine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35331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type_avg = df.groupby("type")["score"].mean().sort_values(ascending=False)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68249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Bin episode counts into labeled ranges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3408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bins   = [0, 12, 24, 50, 100, 10000]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["1-12", "13-24", "25-50", "51-100", "100+"]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9992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df["episode_range"] = pd.cut(df["episodes"], bins=bins, labels=labels)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32841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ep_avg = df.groupby("episode_range", observed=True)["score"].mean()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159141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 err="1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pd.cut</a:t>
            </a:r>
            <a:r>
              <a:rPr lang="en-US" sz="13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506577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observed=True prevents pandas from showing empty categories in the output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Code Walkthrough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&amp; File Output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81577" y="960120"/>
            <a:ext cx="8321040" cy="3063240"/>
          </a:xfrm>
          <a:prstGeom prst="rect">
            <a:avLst/>
          </a:prstGeom>
          <a:solidFill>
            <a:srgbClr val="09142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102412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Pearson correlation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3441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corr_voters   = df["score"].corr(df["scored_by"])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corr_episodes = df["score"].corr(df["episodes"])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198424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corr_duration = df["score"].corr(df["duration_min"])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230428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corr_year     = df["score"].corr(df["year"])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262432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29443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26440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open("anime_findings.txt", "w") as f: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58444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D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f.write(f"Total analyzed: {len(df)}\n")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178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.</a:t>
            </a:r>
            <a:r>
              <a:rPr lang="en-US" sz="1300" dirty="0" err="1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</a:t>
            </a:r>
            <a:r>
              <a:rPr lang="en-US" sz="13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53542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open() with 'w'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82520" y="4178953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Results: Voters (0.355) and Year (0.284) matter </a:t>
            </a:r>
            <a:r>
              <a:rPr lang="en-US" sz="1300" b="1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Episodes (0.061) and Duration (0.148) do not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Things That Didn't Work Out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02920" cy="548640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8813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path errors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325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crashed with </a:t>
            </a:r>
            <a:r>
              <a:rPr lang="en-US" sz="1150" dirty="0" err="1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FileNotFoundError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502920" cy="548640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86537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Messy duration column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 hr 44 min' format returned 1 instead of 104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502920" cy="548640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6426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groupby failed on genres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880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df.groupby('genres').mean() treated 'Action, Drama' as one category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502920" cy="548640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4747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4198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Only 1 R18 row removed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657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more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160520"/>
            <a:ext cx="502920" cy="548640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251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1970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lower than expected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4348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in expectation. Hypothesis = wrong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Was Found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8321040" cy="493776"/>
          </a:xfrm>
          <a:prstGeom prst="rect">
            <a:avLst/>
          </a:prstGeom>
          <a:solidFill>
            <a:srgbClr val="1A4A2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81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+ Studio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58191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predictors — Suspense/Mystery + Kyoto Animation top the rankings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103120"/>
            <a:ext cx="8321040" cy="493776"/>
          </a:xfrm>
          <a:prstGeom prst="rect">
            <a:avLst/>
          </a:prstGeom>
          <a:solidFill>
            <a:srgbClr val="1A4A2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217627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17+ scores highest (6.96) — mature themes resonate with audiences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697480"/>
            <a:ext cx="8321040" cy="493776"/>
          </a:xfrm>
          <a:prstGeom prst="rect">
            <a:avLst/>
          </a:prstGeom>
          <a:solidFill>
            <a:srgbClr val="0D2A3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Count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77063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= 0.355 —&gt; popularity and quality overlap but aren't identical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291840"/>
            <a:ext cx="8321040" cy="493776"/>
          </a:xfrm>
          <a:prstGeom prst="rect">
            <a:avLst/>
          </a:prstGeom>
          <a:solidFill>
            <a:srgbClr val="0D2A3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364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Year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336499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= 0.284 —&gt; newer anime score higher; 2024 avg = 7.02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886200"/>
            <a:ext cx="8321040" cy="493776"/>
          </a:xfrm>
          <a:prstGeom prst="rect">
            <a:avLst/>
          </a:prstGeom>
          <a:solidFill>
            <a:srgbClr val="3A1A1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Count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395935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= 0.061 —&gt; almost no influence. Content quality matters, not length.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6177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github.com/MoonCrepe/ProjectAnimePopAnalysis  ·  CS 210 Spring 2026  ·  Rutgers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F07EF-3DA0-D1E4-EDBF-1058B6C48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2">
            <a:extLst>
              <a:ext uri="{FF2B5EF4-FFF2-40B4-BE49-F238E27FC236}">
                <a16:creationId xmlns:a16="http://schemas.microsoft.com/office/drawing/2014/main" id="{CC4BFCAA-1DC4-1437-BE4C-8BE25BB5BC28}"/>
              </a:ext>
            </a:extLst>
          </p:cNvPr>
          <p:cNvSpPr/>
          <p:nvPr/>
        </p:nvSpPr>
        <p:spPr>
          <a:xfrm>
            <a:off x="164592" y="1483359"/>
            <a:ext cx="10336494" cy="1521098"/>
          </a:xfrm>
          <a:prstGeom prst="rect">
            <a:avLst/>
          </a:prstGeom>
          <a:solidFill>
            <a:srgbClr val="0D2A3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48B671A-3D38-C1B8-582C-4FB176487282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A9EE32-C65F-5331-6D5D-6F7A831AF9AA}"/>
              </a:ext>
            </a:extLst>
          </p:cNvPr>
          <p:cNvSpPr/>
          <p:nvPr/>
        </p:nvSpPr>
        <p:spPr>
          <a:xfrm>
            <a:off x="967377" y="19238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A02359A-33AF-C2A4-DE1D-1EBC696D50F7}"/>
              </a:ext>
            </a:extLst>
          </p:cNvPr>
          <p:cNvSpPr/>
          <p:nvPr/>
        </p:nvSpPr>
        <p:spPr>
          <a:xfrm>
            <a:off x="502920" y="46177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github.com/MoonCrepe/ProjectAnimePopAnalysis  ·  CS 210 Spring 2026  ·  Rutgers University</a:t>
            </a:r>
            <a:endParaRPr lang="en-US" sz="1200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13A949C3-2A7E-41CB-D55E-D3B939485C05}"/>
              </a:ext>
            </a:extLst>
          </p:cNvPr>
          <p:cNvSpPr/>
          <p:nvPr/>
        </p:nvSpPr>
        <p:spPr>
          <a:xfrm>
            <a:off x="164592" y="1501066"/>
            <a:ext cx="914400" cy="54864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E2D20724-3D08-0C26-B013-FAB4EA832E7E}"/>
              </a:ext>
            </a:extLst>
          </p:cNvPr>
          <p:cNvSpPr/>
          <p:nvPr/>
        </p:nvSpPr>
        <p:spPr>
          <a:xfrm>
            <a:off x="1149096" y="4668012"/>
            <a:ext cx="8060218" cy="475488"/>
          </a:xfrm>
          <a:prstGeom prst="rect">
            <a:avLst/>
          </a:prstGeom>
          <a:solidFill>
            <a:srgbClr val="00A8A2"/>
          </a:solidFill>
          <a:ln w="12700">
            <a:solidFill>
              <a:srgbClr val="00A8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97D74108-385E-486F-8032-5F247C39D654}"/>
              </a:ext>
            </a:extLst>
          </p:cNvPr>
          <p:cNvSpPr/>
          <p:nvPr/>
        </p:nvSpPr>
        <p:spPr>
          <a:xfrm>
            <a:off x="1642292" y="47320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github.com/MoonCrepe/ProjectAnimePopAnalysis  ·  CS 210 Spring 2026  ·  Rutgers University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49946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1856</Words>
  <Application>Microsoft Office PowerPoint</Application>
  <PresentationFormat>On-screen Show (16:9)</PresentationFormat>
  <Paragraphs>253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 Mono</vt:lpstr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Popularity Trend Analysis</dc:title>
  <dc:subject>PptxGenJS Presentation</dc:subject>
  <dc:creator>PptxGenJS</dc:creator>
  <cp:lastModifiedBy>Yiling Tan</cp:lastModifiedBy>
  <cp:revision>2</cp:revision>
  <dcterms:created xsi:type="dcterms:W3CDTF">2026-05-08T00:58:16Z</dcterms:created>
  <dcterms:modified xsi:type="dcterms:W3CDTF">2026-05-08T02:44:17Z</dcterms:modified>
</cp:coreProperties>
</file>